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401" autoAdjust="0"/>
  </p:normalViewPr>
  <p:slideViewPr>
    <p:cSldViewPr snapToGrid="0" snapToObjects="1">
      <p:cViewPr varScale="1">
        <p:scale>
          <a:sx n="105" d="100"/>
          <a:sy n="105" d="100"/>
        </p:scale>
        <p:origin x="783" y="5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864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738B64-6FBD-4769-A673-270CEAA06466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2EEDCE-8FEB-4ED1-9D6A-852A65169B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999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Cardiovascular disease kills about 17.9 million people a year — roughly a third of all deaths. Most of those cases trace back to a small set of modifiable risk factors, and a lot of them walk into a hospital but don't get triaged with the urgency they need. The bottleneck isn't medical knowledge — it's clinician bandwidth at the front door. So I built a tool that takes one patient's tabular data, returns a risk probability, and produces a citation-backed summary a clinician can accept, reject, or interrogate in seconds. The goal is to help the clinician, not to replace them — deferral, not autonomy.</a:t>
            </a:r>
          </a:p>
          <a:p>
            <a:endParaRPr lang="en-US" dirty="0"/>
          </a:p>
          <a:p>
            <a:r>
              <a:rPr lang="en-US" dirty="0"/>
              <a:t>#2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 bullet describes the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RAG knowledge base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a set of curated Markdown documents the agent can retrieve from at inference time to ground its explanations (rather than relying purely on the LLM's parametric memory).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 live under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knowledge_base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knowledge_base/feature_dictionary.md — Defines each input feature (e.g., cp,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thalach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oldpeak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 what it means clinically, valid ranges, and units. Lets the agent translate raw model inputs into human-readable terms.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knowledge_base/risk_factors.md — Clinical context on known heart-disease risk factors (age, cholesterol, exercise-induced angina, etc.). Used to justify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given feature pushed risk up or down.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knowledge_base/triage_workflow.md — The action playbook tied to risk bands (low / medium / high → monitor, follow-up, urgent referral). Used by the decision layer and surfaced in the recommendation text.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knowledge_base/model_card.md — Documents the ML/DL models: training data, performance, limitations, intended use. Supports transparency and safeguard responses (e.g., out-of-scope or low-confidence cases).</a:t>
            </a:r>
          </a:p>
          <a:p>
            <a:endParaRPr lang="en-US" dirty="0"/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"Retrievable"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means these aren't hard-coded into prompts — they're chunked, embedded, and stored in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chroma_db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/, then the orchestrator pulls only the top-k relevant passages per query and injects them into the GenAI explainer's context. That makes the system's reasoning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grounded, auditable, and updatable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(edit a Markdown file → re-ingest → behavior changes, no model retraining).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#3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"Natural-language 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summarisation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the LLM rewrites raw model output (e.g., risk=0.78,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top_features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=[cp,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thalach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oldpeak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], band=HIGH) into a clinician-readable narrative like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"The model assessed this patient as high risk, driven primarily by chest-pain type and reduced maximum heart rate...“. 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"Under structural constraints"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the output isn't allowed to be whatever the LLM feels like producing. It must conform to rules enforced by your code, such as: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fixed schema / sections (e.g.,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Summary → Key drivers → Recommendation → Caveats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Required fields (must cite the risk band, must list top-k features, must include a confidence statement)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Length and tone limits (concise, non-diagnostic language)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Safeguard rules — refuse or hedge when confidence is low or input is out-of-scope 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/safeguards.py)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Grounded only in retrieved knowledge-base passages, no invented clinical facts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your codebase this is implemented in src/genai_explainer.py and validated by tests/test_genai_explainer.py.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EDCE-8FEB-4ED1-9D6A-852A65169B8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8805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"End-to-end, the system is five stages. Preprocess the patient row.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 two independent models — a gradient-boosting classifier and a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PyTorch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MLP.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Average them into a risk tier, and flag low confidence when they disagree by more than 0.20.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Then the agent kicks in: it checks for banned requests, retrieves evidence from a small clinical knowledge base, has an LLM draft an explanation grounded only in that evidence, and has a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second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LLM evaluate the draft against a rubric.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the draft fails, one bounded revision is allowed. Every step gets logged to JSONL and a human-readable transcript.“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end-to-end flow. Each arrow is a real module in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/:</a:t>
            </a: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Preprocessing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→ src/preprocessing.py</a:t>
            </a: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ML + DL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→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/ml_model.py, src/dl_model.py</a:t>
            </a: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Ensemble + Confidence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→ src/decision.py</a:t>
            </a: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Agent (RAG + Explainer + Evaluator)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→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/agent_orchestrator.py,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/rag/,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/genai_explainer.py, src/evaluation.py</a:t>
            </a: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Persisted Transcript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→ src/transcripts.py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EDCE-8FEB-4ED1-9D6A-852A65169B8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528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"I integrated five prior capstones — but as patterns, not copy-pasted code. </a:t>
            </a:r>
          </a:p>
          <a:p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P2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gave me the initial data analysis discipline and the limitations framing.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exploratory data analysis / statistical foundations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project (typically a dataset investigation: load, profile, clean, visualize distributions, identify outliers, state assumptions and limitations).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"Initial data analysis discipline“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habit of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jumping straight to modelling. Before any ML/DL code runs in this project, you: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inspect the dataset shape,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dtypes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missingness, class balance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check feature distributions and ranges (drives the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knowledge_base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/feature_dictionary.md)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validate inputs in src/data_loader.py and src/preprocessing.py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document findings in notebooks/01_data_exploration.ipynb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 structured "look before you model" routine is what P2 trained.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"Limitations framing"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discipline of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explicitly stating what the data and model cannot do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sample size, demographic scope, label noise,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generalisation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caveats. In this project it shows up as: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Limitations / Intended Use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sections in knowledge_base/model_card.md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"Educational artifact, not for clinical use"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disclaimer in every slide footer and transcript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safeguard refusals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 low-confidence hedging in src/safeguards.py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P2 taught me to say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"here's what this dataset doesn't tell us"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and that mindset is what makes the final system safe to demo to regulators.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P3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gave me the scikit-learn pipeline and the log1p skew handling.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</a:t>
            </a:r>
            <a:r>
              <a:rPr lang="en-US" sz="1200" i="1" dirty="0"/>
              <a:t>Project 3 taught me to put every transform inside a single </a:t>
            </a:r>
            <a:r>
              <a:rPr lang="en-US" sz="1200" i="1" dirty="0" err="1"/>
              <a:t>sklearn</a:t>
            </a:r>
            <a:r>
              <a:rPr lang="en-US" sz="1200" i="1" dirty="0"/>
              <a:t> Pipeline and to tame skewed features</a:t>
            </a:r>
            <a:br>
              <a:rPr lang="en-US" sz="1200" i="1" dirty="0"/>
            </a:br>
            <a:r>
              <a:rPr lang="en-US" sz="1200" i="1" dirty="0"/>
              <a:t>      with log1p — both patterns are exactly what preprocessing.py and ml_model.py use today, which is why the</a:t>
            </a:r>
            <a:br>
              <a:rPr lang="en-US" sz="1200" i="1" dirty="0"/>
            </a:br>
            <a:r>
              <a:rPr lang="en-US" sz="1200" i="1" dirty="0"/>
              <a:t>      ML stage is reproducible and leakage-free.</a:t>
            </a:r>
            <a:endParaRPr lang="en-US" sz="1200" dirty="0"/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P4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gave me the dropout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regularisation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— more importantly — the habit of disaggregated per-slice evaluation instead of headline accuracy.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i="1" dirty="0"/>
              <a:t>      Project 4 taught me to regularize small-data neural nets with dropout and to never trust a single aggregate metric — that’s</a:t>
            </a:r>
            <a:br>
              <a:rPr lang="en-US" sz="1200" i="1" dirty="0"/>
            </a:br>
            <a:r>
              <a:rPr lang="en-US" sz="1200" i="1" dirty="0"/>
              <a:t>       why dl_model.py uses dropout layers and evaluation.py reports disaggregated per-slice performance instead of just a global AUC</a:t>
            </a:r>
            <a:endParaRPr lang="en-US" sz="1200" dirty="0"/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P5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was a generative project; what carried over wasn't the VAE, it was the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lesson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that generative models need structural mitigations, not prompt pleas.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</a:t>
            </a:r>
            <a:r>
              <a:rPr lang="en-US" sz="1200" i="1" dirty="0"/>
              <a:t>Project 5 taught me that generative models need engineering controls around them, not just better prompts — that’s</a:t>
            </a:r>
            <a:br>
              <a:rPr lang="en-US" sz="1200" i="1" dirty="0"/>
            </a:br>
            <a:r>
              <a:rPr lang="en-US" sz="1200" i="1" dirty="0"/>
              <a:t>      why genai_explainer.py enforces a fixed output schema, grounds every claim in retrieved knowledge-base passages, and hands off to</a:t>
            </a:r>
            <a:br>
              <a:rPr lang="en-US" sz="1200" i="1" dirty="0"/>
            </a:br>
            <a:r>
              <a:rPr lang="en-US" sz="1200" i="1" dirty="0"/>
              <a:t>       safeguards that can refuse or hedge before anything is shown.</a:t>
            </a:r>
            <a:endParaRPr lang="en-US" sz="1200" dirty="0"/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P6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gave me the plan–retrieve–evaluate–revise agent loop, the Chroma RAG layer, and the JSONL run log.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projects chain — the two models feed the ensemble, the ensemble disagreement flag drives the explainer's confidence message, and the bias finding from the per-slice eval is written into the model card the RAG layer can retrieve.“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P6 specifically gave you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Plan → Retrieve → Evaluate → Revise loop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four-stage control cycle the orchestrator runs for every request, rather than a single LLM call: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decide what the agent needs to answer the question (which features to explain, which knowledge-base topics to consult, whether a safeguard already applies).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Retrieve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pull the top-k relevant passages from the vector store 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chroma_db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/) plus structured model outputs (risk score, top features, confidence).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Evaluate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check the draft explanation against the required output schema, grounding (does every claim trace to a retrieved chunk?), and safeguard rules 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/safeguards.py).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Revise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if evaluation fails (missing section, ungrounded claim, low confidence), regenerate with corrective instructions or fall back to a refusal/hedge.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loop lives in src/agent_orchestrator.py and is exercised by tests/test_agent_orchestrator.py.</a:t>
            </a:r>
          </a:p>
          <a:p>
            <a:r>
              <a:rPr lang="en-US" sz="1200" i="1" dirty="0"/>
              <a:t>Project 6 gave me the agent control-flow blueprint — a plan/retrieve/evaluate/revise loop with RAG grounding and</a:t>
            </a:r>
            <a:br>
              <a:rPr lang="en-US" sz="1200" i="1" dirty="0"/>
            </a:br>
            <a:r>
              <a:rPr lang="en-US" sz="1200" i="1" dirty="0"/>
              <a:t>	an explicit refusal list — which is exactly what </a:t>
            </a:r>
            <a:r>
              <a:rPr lang="en-US" sz="1200" i="1" dirty="0" err="1"/>
              <a:t>src</a:t>
            </a:r>
            <a:r>
              <a:rPr lang="en-US" sz="1200" i="1" dirty="0"/>
              <a:t>/rag/ and agent_orchestrator.py implement, so the LLM never</a:t>
            </a:r>
            <a:br>
              <a:rPr lang="en-US" sz="1200" i="1" dirty="0"/>
            </a:br>
            <a:r>
              <a:rPr lang="en-US" sz="1200" i="1" dirty="0"/>
              <a:t>	answers without retrieved evidence and never answers at all when a safeguard fires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EDCE-8FEB-4ED1-9D6A-852A65169B8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2341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"Four decisions worth defending. First, two models instead of one — they tie on ROC-AUC, but per-row disagreement is the signal that powers the low-confidence flag; you can't get that from a single learner. Second, RAG instead of fine-tuning — fine-tuned weights can't be edited, can't cite sources, and can't be revised without retraining; a clinician editing a markdown file is the auditable workflow. Third, evaluator-critic with a bounded revision — it's significantly more code than a single LLM call, but its verdict is logged JSON a regulator can audit. Fourth, refusal as a substring check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before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the LLM — a prompt policy can be jailbroken; a hardcoded check before the model never gets a chance to be talked out of it. Tradeoffs I accept: substring refusal misses paraphrases, the evaluator is itself an LLM, and the KB is tiny."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EDCE-8FEB-4ED1-9D6A-852A65169B8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3345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EDCE-8FEB-4ED1-9D6A-852A65169B8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2590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"Headline numbers: ROC-AUC around 0.96, Brier around 0.087. But I'm reporting 95% bootstrap CIs alongside a plain logistic-regression baseline, and the bands overlap — so I am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overselling the gradient-boosting model. Honest limitations I name in the paper: the dataset is 303 rows, thirty years old, skewed male; calibration is fine on average but both models are most confident exactly when wrong on a handful of rows; the LLM is closed-weights so its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behaviour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can drift; the refusal list can be paraphrased past; and the knowledge base is synthetic. None of those are surprises — they're documented up front.“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ROC-AUC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=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Area Under the Receiver Operating Characteristic Curve</a:t>
            </a:r>
          </a:p>
          <a:p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 to read the number</a:t>
            </a:r>
          </a:p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AUCMeaning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1.0       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Perfect — model ranks every positive above every negative.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0.9–1.0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Excellent separation.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0.8–0.9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Good.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0.7–0.8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Fair.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0.5       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better than random coin-flip.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 0.5    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Worse than random (you could invert predictions and do better).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 = the probability that the model assigns a higher risk score to a randomly chosen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positive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patient than to a randomly chosen 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negative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patient.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 your project's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 ≈ 0.96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(slide 10) means: pick any sick patient and any healthy patient at random — the model ranks the sick one higher about 96% of the time.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EDCE-8FEB-4ED1-9D6A-852A65169B8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3873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"I built five structural mitigations, not generic statements. Refusal before the LLM. Citation discipline — every [S?] index is verified, and across three live runs there were zero invalid citations. A mandatory disclaimer on every explanation. A low-confidence flag surfaced to the clinician. And a full audit trail in JSONL. These map directly onto NIST AI RMF's govern-map-measure-manage functions and onto the EU AI Act's high-risk requirements for transparency, accountability, and human oversight. The per-sex AUC gap I found shows up in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models — that's a data problem, not a model problem, and it's disclosed in the retrievable model card."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EDCE-8FEB-4ED1-9D6A-852A65169B8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5566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"The architectural pattern here — small classical model, plus RAG, plus structurally-guarded LLM, plus evaluator-critic — is the same one being adopted in legal, financial, and insurance AI for the same reason: regulators are converging on 'output must be auditable, evidence must be cite-able, the human is the locus of accountability.' A monolithic LLM cannot meet that bar. The transferable lesson is that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architecture is the safety story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prompt-only safety does not survive contact with regulators or adversarial users.“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"Five things in priority order: a calibration layer on the ensemble, per-slice bootstrap CIs on every subgroup, a real curated guideline KB, a classifier-based input filter to replace the substring list, and a human-in-the-loop feedback hook so the evaluator rubric refines empirically."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EDCE-8FEB-4ED1-9D6A-852A65169B8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9621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ROC-AUC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=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Area Under the Receiver Operating Characteristic Curve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EDCE-8FEB-4ED1-9D6A-852A65169B8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6330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C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8288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Clinical-Triage Explainer for Cardiovascular Risk</a:t>
            </a:r>
          </a:p>
          <a:p>
            <a:pPr>
              <a:defRPr sz="2200">
                <a:solidFill>
                  <a:srgbClr val="CFE2F3"/>
                </a:solidFill>
              </a:defRPr>
            </a:pPr>
            <a:r>
              <a:t>An integrated, auditable AI system — Project 7 → Project 8 defense</a:t>
            </a:r>
          </a:p>
          <a:p>
            <a:r>
              <a:t> </a:t>
            </a:r>
          </a:p>
          <a:p>
            <a:pPr>
              <a:defRPr sz="1600" i="1">
                <a:solidFill>
                  <a:srgbClr val="FFC99A"/>
                </a:solidFill>
              </a:defRPr>
            </a:pPr>
            <a:r>
              <a:t>Educational artifact only.  Not for clinical use.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AI Mastery Capstone — Professional Industry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1/14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Industry Context &amp; Problem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Why this problem, why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dirty="0"/>
              <a:t>Cardiovascular disease: ~17.9 M deaths/year (WHO 2021) — leading cause of death globally.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dirty="0"/>
              <a:t>Bottleneck at triage is clinician cognitive bandwidth, not raw knowledge.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dirty="0"/>
              <a:t>Opportunity: structured, evidence-grounded summary a clinician accepts or rejects in seconds.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dirty="0"/>
              <a:t>Non-goal: replacing clinical judgment.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dirty="0"/>
              <a:t>Why AI fits: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Structured tabular signal (UCI Heart Disease).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Retrievable domain knowledge (feature dictionary, risk factors, triage workflow, model card).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Natural-language </a:t>
            </a:r>
            <a:r>
              <a:rPr dirty="0" err="1"/>
              <a:t>summarisation</a:t>
            </a:r>
            <a:r>
              <a:rPr dirty="0"/>
              <a:t> under structural constraints.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Integrated AI System — Overview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Five blocks, each individually testable and individually logged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dirty="0"/>
              <a:t>Pipeline: Preprocessing → ML + DL → Ensemble + Confidence → Agent (RAG + Explainer + Evaluator) → Persisted Transcript.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dirty="0"/>
              <a:t>Every block emits a JSON event into outputs/</a:t>
            </a:r>
            <a:r>
              <a:rPr dirty="0" err="1"/>
              <a:t>run_log.jsonl</a:t>
            </a:r>
            <a:r>
              <a:rPr dirty="0"/>
              <a:t>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dirty="0"/>
              <a:t>No monolithic step — regulators can audit each stage independently.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dirty="0"/>
              <a:t>Demo entry point: notebooks/05_integrated_pipeline.ipynb.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dirty="0"/>
              <a:t>(Architecture diagram on the next slide.)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Architecture Diagram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Source: docs/architecture.png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5941" y="914400"/>
            <a:ext cx="6253493" cy="59830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4/14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0714D3-39E8-1E9C-8C29-A9B11ADD43BF}"/>
              </a:ext>
            </a:extLst>
          </p:cNvPr>
          <p:cNvSpPr txBox="1"/>
          <p:nvPr/>
        </p:nvSpPr>
        <p:spPr>
          <a:xfrm>
            <a:off x="287542" y="1144998"/>
            <a:ext cx="61386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lang="en-US" dirty="0"/>
              <a:t>Pipeline: Preprocessing → ML + DL → Ensemble + Confidence → Agent (RAG + Explainer + Evaluator) → Persisted Transcript.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Integration of Prior Capstone Projects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Five projects integrated (≥3 required). Code rebuilt; patterns reused.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36905"/>
            <a:ext cx="11887200" cy="30623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dirty="0"/>
              <a:t>P2 — Statistical reasoning:  IDA discipline, chi-square + Cramer's V  →  notebooks/01_data_exploration.ipynb</a:t>
            </a:r>
            <a:br>
              <a:rPr lang="en-US" dirty="0"/>
            </a:br>
            <a:endParaRPr lang="en-US" dirty="0"/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lang="en-US" dirty="0"/>
              <a:t>P3 — ML / RFM:  </a:t>
            </a:r>
            <a:r>
              <a:rPr lang="en-US" dirty="0" err="1"/>
              <a:t>sklearn</a:t>
            </a:r>
            <a:r>
              <a:rPr lang="en-US" dirty="0"/>
              <a:t> Pipeline, log1p skew handling  →  </a:t>
            </a:r>
            <a:r>
              <a:rPr lang="en-US" dirty="0" err="1"/>
              <a:t>src</a:t>
            </a:r>
            <a:r>
              <a:rPr lang="en-US" dirty="0"/>
              <a:t>/preprocessing.py, src/ml_model.py</a:t>
            </a:r>
            <a:br>
              <a:rPr lang="en-US" dirty="0"/>
            </a:br>
            <a:br>
              <a:rPr lang="en-US" dirty="0"/>
            </a:br>
            <a:r>
              <a:rPr dirty="0"/>
              <a:t>P4 — Deep Learning:  dropout, disaggregated per-slice eval  →  </a:t>
            </a:r>
            <a:r>
              <a:rPr dirty="0" err="1"/>
              <a:t>src</a:t>
            </a:r>
            <a:r>
              <a:rPr dirty="0"/>
              <a:t>/dl_model.py, src/evaluation.py</a:t>
            </a:r>
            <a:br>
              <a:rPr lang="en-US" dirty="0"/>
            </a:br>
            <a:endParaRPr lang="en-US" dirty="0"/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dirty="0"/>
              <a:t>P5 — Generative AI:  structural mitigations for generative output  →  src/genai_explainer.py guardrails</a:t>
            </a:r>
            <a:br>
              <a:rPr lang="en-US" dirty="0"/>
            </a:br>
            <a:endParaRPr lang="en-US" dirty="0"/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dirty="0"/>
              <a:t>P6 — Agentic AI:  </a:t>
            </a:r>
            <a:r>
              <a:rPr dirty="0" err="1"/>
              <a:t>Plan→Retrieve→Evaluate→Revise</a:t>
            </a:r>
            <a:r>
              <a:rPr dirty="0"/>
              <a:t> loop, RAG, refusal list  →  </a:t>
            </a:r>
            <a:r>
              <a:rPr dirty="0" err="1"/>
              <a:t>src</a:t>
            </a:r>
            <a:r>
              <a:rPr dirty="0"/>
              <a:t>/rag/, src/agent_orchestrator.py</a:t>
            </a:r>
            <a:br>
              <a:rPr lang="en-US" dirty="0"/>
            </a:br>
            <a:r>
              <a:rPr lang="en-US" sz="1600" dirty="0"/>
              <a:t>	</a:t>
            </a:r>
            <a:endParaRPr sz="160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Key Technical Decisions &amp; Tradeoffs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Honest reasoning, not retroactive justification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t>Two models (ML + DL) instead of one: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t>Headline ROC-AUC tie hides per-row disagreement → disagreement powers the low-confidence flag.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t>Cost: 2× training + inference. Benefit: structural confidence signal.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t>RAG instead of fine-tuning: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t>Auditable, editable, revisable. Clinicians can patch a markdown file; fine-tuned weights cannot be cited.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t>Cost: retrieval latency + KB curation burden.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t>Structural mitigations instead of prompt-only safety: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t>Refusal check before LLM, citation index verification, runtime revision cap.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t>Cost: more code surface. Benefit: survives adversarial inputs, is regulator-auditable.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t>Bootstrap CIs + LR baseline added to evaluation → bands overlap with gradient boosting → not overselling.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Demo 1 — Happy Path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transcripts/demo1_happy_path.md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t>High-risk patient, model agreement, evaluator passes after one bounded revision.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t>Explanation grounded in retrieved evidence chunks with [S?] citations.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t>Mandatory disclaimer present in final output.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t>Evaluator runs on a different LLM snapshot (gpt-4o) than the explainer (gpt-4o-mini) — not rubber-stamping itself.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t>All five events logged: request → score → rag_search → draft → evaluation.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Demo 2 — Low Confidence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transcripts/demo2_low_confidence.md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t>ML probability ≈ 0.97  vs  DL probability ≈ 0.62  →  |Δ| &gt; 0.20.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t>Ensemble agreement gate flips confidence flag to LOW.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t>First draft fails the evaluator on a real issue (unsupported claim about peak exercise capacity).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t>One bounded revision (cap = 1) fixes it — system does not loop indefinitely.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t>Key point: every safety check lives in code, not in the prompt.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Demo 3 — Refusal Before LLM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transcripts/demo3_refusal.md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t>Request contains a banned phrase (e.g. 'prescribe', 'dosage').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t>Transcript shows refused = True and exactly two events: request, refusal.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t>No LLM call is made — the substring check in src/safeguards.py runs first.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t>Property: the system cannot be talked out of refusing, because the LLM never sees the request.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t>This is what makes the safety story auditable.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Quantitative Evaluation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notebooks/04_evaluation.ipynb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t>ROC-AUC ≈ 0.96 for both ML and DL.  Brier ≈ 0.087.  Test n = 61.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t>95 % bootstrap CIs reported alongside a LogisticRegression baseline → bands overlap → results are honest, not oversold.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t>Per-sex slice gap appears in BOTH models → data-driven, not model-driven; disclosed in the retrieved model card.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t>Top-5 highest-confidence wrongs are largely shared between ML and DL → another data signal.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t>RAG faithfulness across 3 live runs: zero invalid citations, 36–44 % explanation/evidence token overlap.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Ethics &amp; Responsible AI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System-specific, not generic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dirty="0"/>
              <a:t>Five structural mitigations: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1. Refusal before LLM (</a:t>
            </a:r>
            <a:r>
              <a:rPr dirty="0" err="1"/>
              <a:t>src</a:t>
            </a:r>
            <a:r>
              <a:rPr dirty="0"/>
              <a:t>/safeguards.py).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2. Citation discipline — every [S?] index verified (</a:t>
            </a:r>
            <a:r>
              <a:rPr dirty="0" err="1"/>
              <a:t>src</a:t>
            </a:r>
            <a:r>
              <a:rPr dirty="0"/>
              <a:t>/</a:t>
            </a:r>
            <a:r>
              <a:rPr dirty="0" err="1"/>
              <a:t>evaluation.py:rag_faithfulness</a:t>
            </a:r>
            <a:r>
              <a:rPr dirty="0"/>
              <a:t>).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3. Mandatory disclaimer in every generated explanation.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4. Confidence flag surfaced to clinician (low / medium / high).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5. Full JSONL audit trail (outputs/</a:t>
            </a:r>
            <a:r>
              <a:rPr dirty="0" err="1"/>
              <a:t>run_log.jsonl</a:t>
            </a:r>
            <a:r>
              <a:rPr dirty="0"/>
              <a:t>).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dirty="0"/>
              <a:t>Mapped to:  NIST AI RMF (govern / map / measure / manage)  +  EU AI Act high-risk requirements (transparency, human oversight, accountability).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dirty="0"/>
              <a:t>Honest limitations: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Tiny benchmark (n = 303, 30-year-old data).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Calibration smell on confident-wrong cases.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Substring refusal can be paraphrased past by an adversary.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Knowledge base is synthetic.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Industry Relevance &amp; Next Steps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What this readies me for, and what I would build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3600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dirty="0"/>
              <a:t>Pattern (small classical model + RAG + structurally-guarded LLM + evaluator-critic) is the same one being adopted in legal, financial advisory, insurance — same regulatory drivers.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dirty="0"/>
              <a:t>Transferable lesson:  </a:t>
            </a:r>
            <a:r>
              <a:rPr lang="en-US" dirty="0"/>
              <a:t>T</a:t>
            </a:r>
            <a:r>
              <a:rPr dirty="0"/>
              <a:t>he architecture is the safety story, not the prompt.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dirty="0"/>
              <a:t>Demonstrated skills:  pipeline engineering, eval discipline, RAG design, agent orchestration, responsible-AI reasoning, technical communication.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dirty="0"/>
              <a:t>Future work, prioritized: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1. Calibration layer before reporting probabilities.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2. Real curated knowledge base.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3. Classifier-based input filter (replace substring list).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4. Counterfactual explanations.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5. Human-in-the-loop feedback channel.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Anticipated Q&amp;A (defense prep)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Every answer anchors to a file in the repo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dirty="0"/>
              <a:t>Why two models if they tie on ROC-AUC?  →  per-row disagreement powers the confidence flag.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dirty="0"/>
              <a:t>Why RAG instead of fine-tuning?  →  auditability and revisability.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dirty="0"/>
              <a:t>How do you know the LLM isn't hallucinating citations?  →  src/evaluation.py verifies every [S?] index.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dirty="0"/>
              <a:t>What stops prompt injection past the refusal list?  →  substring check runs BEFORE the LLM; production would use a classifier filter.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dirty="0"/>
              <a:t>Is this clinically valid?  →  No. Educational artifact, n=303, mandatory disclaimer, documented limitations.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dirty="0"/>
              <a:t>Hardest design decision?  →  structural mitigations over prompt-only — significantly more code, but the only one a regulator can audit.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dirty="0"/>
              <a:t>What would you do differently?  →  add calibration layer + replace synthetic KB before any quantitative RAG-faithfulness claim leaves the educational context.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Thank you — Questions?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Companion artifacts in this folder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t>Rehearsal_Script.md — single canonical script.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t>Reflective_Synthesis_Paper.pdf — the written defense.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t>integration_map.md — prior-project lineage table.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t>transcripts/demo1, demo2, demo3 — fallback evidence if a live demo fails.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t>architecture.png — system diagram.</a:t>
            </a:r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t>Educational artifact only. Not for clinical use.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10138</TotalTime>
  <Words>3922</Words>
  <Application>Microsoft Office PowerPoint</Application>
  <PresentationFormat>Widescreen</PresentationFormat>
  <Paragraphs>220</Paragraphs>
  <Slides>14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Naunihal Singh Sidhu</cp:lastModifiedBy>
  <cp:revision>31</cp:revision>
  <dcterms:created xsi:type="dcterms:W3CDTF">2013-01-27T09:14:16Z</dcterms:created>
  <dcterms:modified xsi:type="dcterms:W3CDTF">2026-05-26T01:29:35Z</dcterms:modified>
  <cp:category/>
</cp:coreProperties>
</file>